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0" y="4754880"/>
            <a:ext cx="4572000" cy="1828800"/>
          </a:xfrm>
          <a:prstGeom prst="rect">
            <a:avLst/>
          </a:prstGeom>
          <a:solidFill>
            <a:srgbClr val="6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097280" cy="7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ASTARTER  ×  COINTIME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Bahnschrift"/>
              </a:rPr>
              <a:t>MEDIA</a:t>
            </a:r>
          </a:p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Bahnschrift"/>
              </a:rPr>
              <a:t>PACKAGE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06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D4C8FF"/>
                </a:solidFill>
                <a:latin typeface="Bahnschrift"/>
              </a:rPr>
              <a:t>Settlement infrastructure for the autonomous AI Agent economy.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85216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070B0"/>
                </a:solidFill>
                <a:latin typeface="Consolas"/>
              </a:rPr>
              <a:t>Prepared for GK review  ·  2026.05.24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502920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QUIET</a:t>
            </a:r>
          </a:p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SUBSTRATE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E5FF"/>
                </a:solidFill>
                <a:latin typeface="Consolas"/>
              </a:rPr>
              <a:t>01  ·  THE 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6000" b="1">
                <a:solidFill>
                  <a:srgbClr val="FFFFFF"/>
                </a:solidFill>
                <a:latin typeface="Bahnschrift"/>
              </a:rPr>
              <a:t>DeFi's next bottleneck</a:t>
            </a:r>
          </a:p>
          <a:p>
            <a:pPr algn="l">
              <a:lnSpc>
                <a:spcPct val="105000"/>
              </a:lnSpc>
            </a:pPr>
            <a:r>
              <a:rPr sz="6000" b="1">
                <a:solidFill>
                  <a:srgbClr val="FFFFFF"/>
                </a:solidFill>
                <a:latin typeface="Bahnschrift"/>
              </a:rPr>
              <a:t>isn't liquidity —</a:t>
            </a:r>
          </a:p>
          <a:p>
            <a:pPr algn="l">
              <a:lnSpc>
                <a:spcPct val="105000"/>
              </a:lnSpc>
            </a:pPr>
            <a:r>
              <a:rPr sz="6000" b="1">
                <a:solidFill>
                  <a:srgbClr val="FFFFFF"/>
                </a:solidFill>
                <a:latin typeface="Bahnschrift"/>
              </a:rPr>
              <a:t>it's settlement.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1206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D4C8FF"/>
                </a:solidFill>
                <a:latin typeface="Bahnschrift"/>
              </a:rPr>
              <a:t>The defining trade of the 2026 cycle is no longer about which chain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D4C8FF"/>
                </a:solidFill>
                <a:latin typeface="Bahnschrift"/>
              </a:rPr>
              <a:t>wins liquidity. It is about who builds the settlement substrate for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D4C8FF"/>
                </a:solidFill>
                <a:latin typeface="Bahnschrift"/>
              </a:rPr>
              <a:t>the first generation of economic actors that are not human.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02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ASTARTER  ·  COINTIME PACKAGE  ·  2026.05.24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E5FF"/>
                </a:solidFill>
                <a:latin typeface="Consolas"/>
              </a:rPr>
              <a:t>02  ·  THE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Bahnschrift"/>
              </a:rPr>
              <a:t>AI Agents have crossed the line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Bahnschrift"/>
              </a:rPr>
              <a:t>from narrative into deployment.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743200"/>
            <a:ext cx="3566160" cy="3200400"/>
          </a:xfrm>
          <a:prstGeom prst="rect">
            <a:avLst/>
          </a:prstGeom>
          <a:solidFill>
            <a:srgbClr val="2D1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0175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FF"/>
                </a:solidFill>
                <a:latin typeface="Consolas"/>
              </a:rPr>
              <a:t>OLAS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Bahnschrift"/>
              </a:rPr>
              <a:t>376%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93776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D4C8FF"/>
                </a:solidFill>
                <a:latin typeface="Bahnschrift"/>
              </a:rPr>
              <a:t>Agent-driven returns on Polymarket vs. &lt;13% for human wallets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743200"/>
            <a:ext cx="3566160" cy="3200400"/>
          </a:xfrm>
          <a:prstGeom prst="rect">
            <a:avLst/>
          </a:prstGeom>
          <a:solidFill>
            <a:srgbClr val="2D1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0175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FF"/>
                </a:solidFill>
                <a:latin typeface="Consolas"/>
              </a:rPr>
              <a:t>VIRTUALS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5661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Bahnschrift"/>
              </a:rPr>
              <a:t>$2B+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493776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D4C8FF"/>
                </a:solidFill>
                <a:latin typeface="Bahnschrift"/>
              </a:rPr>
              <a:t>Cumulative agent-linked trading volume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2743200"/>
            <a:ext cx="3566160" cy="3200400"/>
          </a:xfrm>
          <a:prstGeom prst="rect">
            <a:avLst/>
          </a:prstGeom>
          <a:solidFill>
            <a:srgbClr val="2D1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30175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FF"/>
                </a:solidFill>
                <a:latin typeface="Consolas"/>
              </a:rPr>
              <a:t>FETCH.AI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6616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600" b="1">
                <a:solidFill>
                  <a:srgbClr val="FFFFFF"/>
                </a:solidFill>
                <a:latin typeface="Bahnschrift"/>
              </a:rPr>
              <a:t>150K+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93776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D4C8FF"/>
                </a:solidFill>
                <a:latin typeface="Bahnschrift"/>
              </a:rPr>
              <a:t>Deployed agents on the ASI:One framework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03 / 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ASTARTER  ·  COINTIME PACKAGE  ·  2026.05.24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E5FF"/>
                </a:solidFill>
                <a:latin typeface="Consolas"/>
              </a:rPr>
              <a:t>03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Bahnschrift"/>
              </a:rPr>
              <a:t>Agents don't need better models.</a:t>
            </a: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Bahnschrift"/>
              </a:rPr>
              <a:t>They need better rails.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9319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>
                <a:solidFill>
                  <a:srgbClr val="D4C8FF"/>
                </a:solidFill>
                <a:latin typeface="Bahnschrift"/>
              </a:rPr>
              <a:t>Existing DeFi was built for human counterparties. Slippage, MEV,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D4C8FF"/>
                </a:solidFill>
                <a:latin typeface="Bahnschrift"/>
              </a:rPr>
              <a:t>gas, disputes — every primitive assumes a person can intervene.</a:t>
            </a:r>
          </a:p>
          <a:p>
            <a:pPr algn="l">
              <a:lnSpc>
                <a:spcPct val="145000"/>
              </a:lnSpc>
            </a:pPr>
            <a:r>
              <a:rPr sz="1800" b="0">
                <a:solidFill>
                  <a:srgbClr val="D4C8FF"/>
                </a:solidFill>
                <a:latin typeface="Bahnschrift"/>
              </a:rPr>
              <a:t>Agents can't improvise. They require deterministic settlement.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04 /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ASTARTER  ·  COINTIME PACKAGE  ·  2026.05.24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E5FF"/>
                </a:solidFill>
                <a:latin typeface="Consolas"/>
              </a:rPr>
              <a:t>04  ·  THE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00E5FF"/>
                </a:solidFill>
                <a:latin typeface="Bahnschrift"/>
              </a:rPr>
              <a:t>DeFAI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FFFFFF"/>
                </a:solidFill>
                <a:latin typeface="Bahnschrift"/>
              </a:rPr>
              <a:t>Decentralized finance for autonomous AI execution.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11480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D4C8FF"/>
                </a:solidFill>
                <a:latin typeface="Bahnschrift"/>
              </a:rPr>
              <a:t>The teams credibly inside this category — Astarter, Olas, Giza,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D4C8FF"/>
                </a:solidFill>
                <a:latin typeface="Bahnschrift"/>
              </a:rPr>
              <a:t>the Fetch.ai/ASI alliance — have each chosen a different point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D4C8FF"/>
                </a:solidFill>
                <a:latin typeface="Bahnschrift"/>
              </a:rPr>
              <a:t>in the stack to anchor.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69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>
                <a:solidFill>
                  <a:srgbClr val="9D5CFF"/>
                </a:solidFill>
                <a:latin typeface="Bahnschrift"/>
              </a:rPr>
              <a:t>Astarter has chosen the settlement layer itself.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05 /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ASTARTER  ·  COINTIME PACKAGE  ·  2026.05.24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E5FF"/>
                </a:solidFill>
                <a:latin typeface="Consolas"/>
              </a:rPr>
              <a:t>05  ·  THE ASTARTER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Bahnschrift"/>
              </a:rPr>
              <a:t>Four production components.</a:t>
            </a:r>
          </a:p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Bahnschrift"/>
              </a:rPr>
              <a:t>One repositioned thesis.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926080"/>
            <a:ext cx="2697480" cy="2926080"/>
          </a:xfrm>
          <a:prstGeom prst="rect">
            <a:avLst/>
          </a:prstGeom>
          <a:solidFill>
            <a:srgbClr val="2D1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926080"/>
            <a:ext cx="2697480" cy="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246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LAUNCHPAD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2920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D4C8FF"/>
                </a:solidFill>
                <a:latin typeface="Bahnschrift"/>
              </a:rPr>
              <a:t>Agent-native issuance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926080"/>
            <a:ext cx="2697480" cy="2926080"/>
          </a:xfrm>
          <a:prstGeom prst="rect">
            <a:avLst/>
          </a:prstGeom>
          <a:solidFill>
            <a:srgbClr val="2D1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29000" y="2926080"/>
            <a:ext cx="2697480" cy="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3246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E5FF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65760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02920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D4C8FF"/>
                </a:solidFill>
                <a:latin typeface="Bahnschrift"/>
              </a:rPr>
              <a:t>On-chain liquidity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2697480" cy="2926080"/>
          </a:xfrm>
          <a:prstGeom prst="rect">
            <a:avLst/>
          </a:prstGeom>
          <a:solidFill>
            <a:srgbClr val="2D1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926080"/>
            <a:ext cx="2697480" cy="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246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E5FF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65760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MONEY MARKET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502920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D4C8FF"/>
                </a:solidFill>
                <a:latin typeface="Bahnschrift"/>
              </a:rPr>
              <a:t>Credit primitives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89720" y="2926080"/>
            <a:ext cx="2697480" cy="2926080"/>
          </a:xfrm>
          <a:prstGeom prst="rect">
            <a:avLst/>
          </a:prstGeom>
          <a:solidFill>
            <a:srgbClr val="2D1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89720" y="2926080"/>
            <a:ext cx="2697480" cy="40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324612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00E5FF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3657600"/>
            <a:ext cx="2331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TECH SERVICE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5029200"/>
            <a:ext cx="2331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>
                <a:solidFill>
                  <a:srgbClr val="D4C8FF"/>
                </a:solidFill>
                <a:latin typeface="Bahnschrift"/>
              </a:rPr>
              <a:t>Builder tooling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4C8FF"/>
                </a:solidFill>
                <a:latin typeface="Bahnschrift"/>
              </a:rPr>
              <a:t>Same primitives. Repointed at the layer where autonomous agents need to live.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06 / 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ASTARTER  ·  COINTIME PACKAGE  ·  2026.05.24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E5FF"/>
                </a:solidFill>
                <a:latin typeface="Consolas"/>
              </a:rPr>
              <a:t>06  ·  THE ALLIANCE  ·  MAY 15,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Bahnschrift"/>
              </a:rPr>
              <a:t>Astarter  ×  UXLINK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>
                <a:solidFill>
                  <a:srgbClr val="00E5FF"/>
                </a:solidFill>
                <a:latin typeface="Bahnschrift"/>
              </a:rPr>
              <a:t>Execution layer  +  distribution layer.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5486400" cy="2560320"/>
          </a:xfrm>
          <a:prstGeom prst="rect">
            <a:avLst/>
          </a:prstGeom>
          <a:solidFill>
            <a:srgbClr val="2D1B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FF"/>
                </a:solidFill>
                <a:latin typeface="Consolas"/>
              </a:rPr>
              <a:t>ASTARTER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976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Bahnschrift"/>
              </a:rPr>
              <a:t>Brings the execution layer: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Bahnschrift"/>
              </a:rPr>
              <a:t>the financial primitives agents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Bahnschrift"/>
              </a:rPr>
              <a:t>need to clear value on-chain.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3657600"/>
            <a:ext cx="5486400" cy="2560320"/>
          </a:xfrm>
          <a:prstGeom prst="rect">
            <a:avLst/>
          </a:prstGeom>
          <a:solidFill>
            <a:srgbClr val="6F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3840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FFFFF"/>
                </a:solidFill>
                <a:latin typeface="Consolas"/>
              </a:rPr>
              <a:t>UXLINK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4297680"/>
            <a:ext cx="50292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Bahnschrift"/>
              </a:rPr>
              <a:t>Brings the distribution layer: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Bahnschrift"/>
              </a:rPr>
              <a:t>active Web3 social graph for</a:t>
            </a:r>
          </a:p>
          <a:p>
            <a:pPr algn="l">
              <a:lnSpc>
                <a:spcPct val="140000"/>
              </a:lnSpc>
            </a:pPr>
            <a:r>
              <a:rPr sz="1600" b="0">
                <a:solidFill>
                  <a:srgbClr val="FFFFFF"/>
                </a:solidFill>
                <a:latin typeface="Bahnschrift"/>
              </a:rPr>
              <a:t>agent-native applications.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07 / 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ASTARTER  ·  COINTIME PACKAGE  ·  2026.05.24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E5FF"/>
                </a:solidFill>
                <a:latin typeface="Consolas"/>
              </a:rPr>
              <a:t>07  ·  THE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5486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0" b="1">
                <a:solidFill>
                  <a:srgbClr val="00E5FF"/>
                </a:solidFill>
                <a:latin typeface="Bahnschrift"/>
              </a:rPr>
              <a:t>$AA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>
                <a:solidFill>
                  <a:srgbClr val="D4C8FF"/>
                </a:solidFill>
                <a:latin typeface="Consolas"/>
              </a:rPr>
              <a:t>Fixed supply  ·  100,000,000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8229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FF"/>
                </a:solidFill>
                <a:latin typeface="Consolas"/>
              </a:rPr>
              <a:t>UNIT OF ACCOUNT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4300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Bahnschrift"/>
              </a:rPr>
              <a:t>Agent-to-agent settlement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FF"/>
                </a:solidFill>
                <a:latin typeface="Consolas"/>
              </a:rPr>
              <a:t>PAYMENT MEDIUM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2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Bahnschrift"/>
              </a:rPr>
              <a:t>DePIN compute resources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20040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FF"/>
                </a:solidFill>
                <a:latin typeface="Consolas"/>
              </a:rPr>
              <a:t>GOVERNANCE INSTRUMENT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2044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Bahnschrift"/>
              </a:rPr>
              <a:t>Protocol parameters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00E5FF"/>
                </a:solidFill>
                <a:latin typeface="Consolas"/>
              </a:rPr>
              <a:t>COLLATERAL PRIMITIVE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0916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FFFFFF"/>
                </a:solidFill>
                <a:latin typeface="Bahnschrift"/>
              </a:rPr>
              <a:t>Money Market for agent credit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070B0"/>
                </a:solidFill>
                <a:latin typeface="Consolas"/>
              </a:rPr>
              <a:t>AA1 → AA2 transition completed November 2025.  Listing schedule undisclosed.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08 /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ASTARTER  ·  COINTIME PACKAGE  ·  2026.05.24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E5FF"/>
                </a:solidFill>
                <a:latin typeface="Consolas"/>
              </a:rPr>
              <a:t>08  ·  WHAT TO WATCH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Bahnschrift"/>
              </a:rPr>
              <a:t>Three signals.</a:t>
            </a:r>
          </a:p>
          <a:p>
            <a:pPr algn="l">
              <a:lnSpc>
                <a:spcPct val="110000"/>
              </a:lnSpc>
            </a:pPr>
            <a:r>
              <a:rPr sz="4400" b="1">
                <a:solidFill>
                  <a:srgbClr val="FFFFFF"/>
                </a:solidFill>
                <a:latin typeface="Bahnschrift"/>
              </a:rPr>
              <a:t>Next two quarters.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E5FF"/>
                </a:solidFill>
                <a:latin typeface="Bahnschrift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30632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AGENT-NATIVE PRODUCT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347472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D4C8FF"/>
                </a:solidFill>
                <a:latin typeface="Bahnschrift"/>
              </a:rPr>
              <a:t>DeFAI execution layer in functional beta with one external production deployment.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E5FF"/>
                </a:solidFill>
                <a:latin typeface="Bahnschrift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1605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MULTI-CHAIN EXPANSION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5720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D4C8FF"/>
                </a:solidFill>
                <a:latin typeface="Bahnschrift"/>
              </a:rPr>
              <a:t>Confirmed deployment beyond Cardano into EVM and/or Solana environments.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79"/>
            <a:ext cx="914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>
                <a:solidFill>
                  <a:srgbClr val="00E5FF"/>
                </a:solidFill>
                <a:latin typeface="Bahnschrift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5257799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Bahnschrift"/>
              </a:rPr>
              <a:t>ADDITIONAL STRATEGIC ALLIANCES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669279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D4C8FF"/>
                </a:solidFill>
                <a:latin typeface="Bahnschrift"/>
              </a:rPr>
              <a:t>At least one more UXLINK-caliber partnership within 90 days.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09 / 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ASTARTER  ·  COINTIME PACKAGE  ·  2026.05.24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>
                <a:solidFill>
                  <a:srgbClr val="00E5FF"/>
                </a:solidFill>
                <a:latin typeface="Consolas"/>
              </a:rPr>
              <a:t>09  ·  DECISIONS REQUIRED FROM GK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Bahnschrift"/>
              </a:rPr>
              <a:t>Open items before send.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2860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Bahnschrift"/>
              </a:rPr>
              <a:t>Share TGE date / listing venues in copy?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83464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283464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Bahnschrift"/>
              </a:rPr>
              <a:t>Confirmed second chain we can name?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38328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Bahnschrift"/>
              </a:rPr>
              <a:t>CEO quote on the DeFAI thesis?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9319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Bahnschrift"/>
              </a:rPr>
              <a:t>Hold for a second partnership announcement?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480560"/>
            <a:ext cx="731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E5FF"/>
                </a:solidFill>
                <a:latin typeface="Consolas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48056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Bahnschrift"/>
              </a:rPr>
              <a:t>Approve syndication beyond Cointime  (PANews / BlockBeats / TechFlow)?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00E5FF"/>
                </a:solidFill>
                <a:latin typeface="Consolas"/>
              </a:rPr>
              <a:t>astarter.io  ·  @AstarterDefiHub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4008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10 /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8070B0"/>
                </a:solidFill>
                <a:latin typeface="Consolas"/>
              </a:rPr>
              <a:t>ASTARTER  ·  COINTIME PACKAGE  ·  2026.05.24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