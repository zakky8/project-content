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4754880"/>
            <a:ext cx="4572000" cy="1828800"/>
          </a:xfrm>
          <a:prstGeom prst="rect">
            <a:avLst/>
          </a:prstGeom>
          <a:solidFill>
            <a:srgbClr val="6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097280" cy="7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ASTARTER  ×  COINTIME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FFFFFF"/>
                </a:solidFill>
                <a:latin typeface="Calibri"/>
              </a:rPr>
              <a:t>MEDIA</a:t>
            </a:r>
          </a:p>
          <a:p>
            <a:pPr algn="l">
              <a:lnSpc>
                <a:spcPct val="100000"/>
              </a:lnSpc>
            </a:pPr>
            <a:r>
              <a:rPr sz="8800" b="1">
                <a:solidFill>
                  <a:srgbClr val="FFFFFF"/>
                </a:solidFill>
                <a:latin typeface="Calibri"/>
              </a:rPr>
              <a:t>PACKAGE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D4C8FF"/>
                </a:solidFill>
                <a:latin typeface="Calibri"/>
              </a:rPr>
              <a:t>Settlement infrastructure for the autonomous AI Agent economy.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070B0"/>
                </a:solidFill>
                <a:latin typeface="Consolas"/>
              </a:rPr>
              <a:t>Prepared for GK review  ·  2026.05.24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5029200"/>
            <a:ext cx="3657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QUIET</a:t>
            </a:r>
          </a:p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SUBSTRATE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E5FF"/>
                </a:solidFill>
                <a:latin typeface="Consolas"/>
              </a:rPr>
              <a:t>01  ·  THE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>
                <a:solidFill>
                  <a:srgbClr val="FFFFFF"/>
                </a:solidFill>
                <a:latin typeface="Calibri"/>
              </a:rPr>
              <a:t>DeFi's next bottleneck</a:t>
            </a:r>
          </a:p>
          <a:p>
            <a:pPr algn="l">
              <a:lnSpc>
                <a:spcPct val="105000"/>
              </a:lnSpc>
            </a:pPr>
            <a:r>
              <a:rPr sz="6000" b="1">
                <a:solidFill>
                  <a:srgbClr val="FFFFFF"/>
                </a:solidFill>
                <a:latin typeface="Calibri"/>
              </a:rPr>
              <a:t>isn't liquidity —</a:t>
            </a:r>
          </a:p>
          <a:p>
            <a:pPr algn="l">
              <a:lnSpc>
                <a:spcPct val="105000"/>
              </a:lnSpc>
            </a:pPr>
            <a:r>
              <a:rPr sz="6000" b="1">
                <a:solidFill>
                  <a:srgbClr val="FFFFFF"/>
                </a:solidFill>
                <a:latin typeface="Calibri"/>
              </a:rPr>
              <a:t>it's settlement.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120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D4C8FF"/>
                </a:solidFill>
                <a:latin typeface="Calibri"/>
              </a:rPr>
              <a:t>The defining trade of the 2026 cycle is no longer about which chain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D4C8FF"/>
                </a:solidFill>
                <a:latin typeface="Calibri"/>
              </a:rPr>
              <a:t>wins liquidity. It is about who builds the settlement substrate for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D4C8FF"/>
                </a:solidFill>
                <a:latin typeface="Calibri"/>
              </a:rPr>
              <a:t>the first generation of economic actors that are not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070B0"/>
                </a:solidFill>
                <a:latin typeface="Consolas"/>
              </a:rPr>
              <a:t>02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070B0"/>
                </a:solidFill>
                <a:latin typeface="Consolas"/>
              </a:rPr>
              <a:t>ASTARTER  ·  COINTIME PACKAGE  ·  2026.05.24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E5FF"/>
                </a:solidFill>
                <a:latin typeface="Consolas"/>
              </a:rPr>
              <a:t>02  · 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AI Agents have crossed the line</a:t>
            </a:r>
          </a:p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from narrative into deployment.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743200"/>
            <a:ext cx="3566160" cy="3200400"/>
          </a:xfrm>
          <a:prstGeom prst="rect">
            <a:avLst/>
          </a:prstGeom>
          <a:solidFill>
            <a:srgbClr val="2D1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E5FF"/>
                </a:solidFill>
                <a:latin typeface="Consolas"/>
              </a:rPr>
              <a:t>OLAS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>
                <a:solidFill>
                  <a:srgbClr val="FFFFFF"/>
                </a:solidFill>
                <a:latin typeface="Calibri"/>
              </a:rPr>
              <a:t>376%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D4C8FF"/>
                </a:solidFill>
                <a:latin typeface="Calibri"/>
              </a:rPr>
              <a:t>Agent-driven returns on Polymarket vs. &lt;13% for human wallets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2743200"/>
            <a:ext cx="3566160" cy="3200400"/>
          </a:xfrm>
          <a:prstGeom prst="rect">
            <a:avLst/>
          </a:prstGeom>
          <a:solidFill>
            <a:srgbClr val="2D1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30175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E5FF"/>
                </a:solidFill>
                <a:latin typeface="Consolas"/>
              </a:rPr>
              <a:t>VIRTUALS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56616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>
                <a:solidFill>
                  <a:srgbClr val="FFFFFF"/>
                </a:solidFill>
                <a:latin typeface="Calibri"/>
              </a:rPr>
              <a:t>$2B+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493776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D4C8FF"/>
                </a:solidFill>
                <a:latin typeface="Calibri"/>
              </a:rPr>
              <a:t>Cumulative agent-linked trading volume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2743200"/>
            <a:ext cx="3566160" cy="3200400"/>
          </a:xfrm>
          <a:prstGeom prst="rect">
            <a:avLst/>
          </a:prstGeom>
          <a:solidFill>
            <a:srgbClr val="2D1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30175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E5FF"/>
                </a:solidFill>
                <a:latin typeface="Consolas"/>
              </a:rPr>
              <a:t>FETCH.AI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6616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>
                <a:solidFill>
                  <a:srgbClr val="FFFFFF"/>
                </a:solidFill>
                <a:latin typeface="Calibri"/>
              </a:rPr>
              <a:t>150K+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93776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D4C8FF"/>
                </a:solidFill>
                <a:latin typeface="Calibri"/>
              </a:rPr>
              <a:t>Deployed agents on the ASI:One framework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070B0"/>
                </a:solidFill>
                <a:latin typeface="Consolas"/>
              </a:rPr>
              <a:t>03 /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070B0"/>
                </a:solidFill>
                <a:latin typeface="Consolas"/>
              </a:rPr>
              <a:t>ASTARTER  ·  COINTIME PACKAGE  ·  2026.05.24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E5FF"/>
                </a:solidFill>
                <a:latin typeface="Consolas"/>
              </a:rPr>
              <a:t>03  · 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Calibri"/>
              </a:rPr>
              <a:t>Agents don't need better models.</a:t>
            </a:r>
          </a:p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Calibri"/>
              </a:rPr>
              <a:t>They need better rails.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D4C8FF"/>
                </a:solidFill>
                <a:latin typeface="Calibri"/>
              </a:rPr>
              <a:t>Existing DeFi was built for human counterparties. Slippage, MEV,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D4C8FF"/>
                </a:solidFill>
                <a:latin typeface="Calibri"/>
              </a:rPr>
              <a:t>gas, disputes — every primitive assumes a person can intervene.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D4C8FF"/>
                </a:solidFill>
                <a:latin typeface="Calibri"/>
              </a:rPr>
              <a:t>Agents can't improvise. They require deterministic settlement.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070B0"/>
                </a:solidFill>
                <a:latin typeface="Consolas"/>
              </a:rPr>
              <a:t>04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070B0"/>
                </a:solidFill>
                <a:latin typeface="Consolas"/>
              </a:rPr>
              <a:t>ASTARTER  ·  COINTIME PACKAGE  ·  2026.05.24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E5FF"/>
                </a:solidFill>
                <a:latin typeface="Consolas"/>
              </a:rPr>
              <a:t>04  ·  THE CATEGORY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>
                <a:solidFill>
                  <a:srgbClr val="00E5FF"/>
                </a:solidFill>
                <a:latin typeface="Calibri"/>
              </a:rPr>
              <a:t>DeFAI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Decentralized finance for autonomous AI execution.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D4C8FF"/>
                </a:solidFill>
                <a:latin typeface="Calibri"/>
              </a:rPr>
              <a:t>The teams credibly inside this category — Astarter, Olas, Giza,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D4C8FF"/>
                </a:solidFill>
                <a:latin typeface="Calibri"/>
              </a:rPr>
              <a:t>the Fetch.ai/ASI alliance — have each chosen a different point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D4C8FF"/>
                </a:solidFill>
                <a:latin typeface="Calibri"/>
              </a:rPr>
              <a:t>in the stack to anchor.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69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9D5CFF"/>
                </a:solidFill>
                <a:latin typeface="Calibri"/>
              </a:rPr>
              <a:t>Astarter has chosen the settlement layer itself.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070B0"/>
                </a:solidFill>
                <a:latin typeface="Consolas"/>
              </a:rPr>
              <a:t>05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070B0"/>
                </a:solidFill>
                <a:latin typeface="Consolas"/>
              </a:rPr>
              <a:t>ASTARTER  ·  COINTIME PACKAGE  ·  2026.05.24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E5FF"/>
                </a:solidFill>
                <a:latin typeface="Consolas"/>
              </a:rPr>
              <a:t>05  ·  THE ASTARTER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Four production components.</a:t>
            </a:r>
          </a:p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One repositioned thesis.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926080"/>
            <a:ext cx="2697480" cy="2926080"/>
          </a:xfrm>
          <a:prstGeom prst="rect">
            <a:avLst/>
          </a:prstGeom>
          <a:solidFill>
            <a:srgbClr val="2D1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926080"/>
            <a:ext cx="2697480" cy="40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2461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E5FF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657600"/>
            <a:ext cx="2331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LAUNCHPAD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2920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D4C8FF"/>
                </a:solidFill>
                <a:latin typeface="Calibri"/>
              </a:rPr>
              <a:t>Agent-native issuance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2926080"/>
            <a:ext cx="2697480" cy="2926080"/>
          </a:xfrm>
          <a:prstGeom prst="rect">
            <a:avLst/>
          </a:prstGeom>
          <a:solidFill>
            <a:srgbClr val="2D1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2926080"/>
            <a:ext cx="2697480" cy="40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32461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E5FF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657600"/>
            <a:ext cx="2331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502920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D4C8FF"/>
                </a:solidFill>
                <a:latin typeface="Calibri"/>
              </a:rPr>
              <a:t>On-chain liquidity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926080"/>
            <a:ext cx="2697480" cy="2926080"/>
          </a:xfrm>
          <a:prstGeom prst="rect">
            <a:avLst/>
          </a:prstGeom>
          <a:solidFill>
            <a:srgbClr val="2D1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2926080"/>
            <a:ext cx="2697480" cy="40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32461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E5FF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657600"/>
            <a:ext cx="2331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MONEY MARKET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502920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D4C8FF"/>
                </a:solidFill>
                <a:latin typeface="Calibri"/>
              </a:rPr>
              <a:t>Credit primitives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2926080"/>
            <a:ext cx="2697480" cy="2926080"/>
          </a:xfrm>
          <a:prstGeom prst="rect">
            <a:avLst/>
          </a:prstGeom>
          <a:solidFill>
            <a:srgbClr val="2D1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2926080"/>
            <a:ext cx="2697480" cy="40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32461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E5FF"/>
                </a:solidFill>
                <a:latin typeface="Consola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3657600"/>
            <a:ext cx="2331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TECH SERVICE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502920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D4C8FF"/>
                </a:solidFill>
                <a:latin typeface="Calibri"/>
              </a:rPr>
              <a:t>Builder tooling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D4C8FF"/>
                </a:solidFill>
                <a:latin typeface="Calibri"/>
              </a:rPr>
              <a:t>Same primitives. Repointed at the layer where autonomous agents need to live.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070B0"/>
                </a:solidFill>
                <a:latin typeface="Consolas"/>
              </a:rPr>
              <a:t>06 /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070B0"/>
                </a:solidFill>
                <a:latin typeface="Consolas"/>
              </a:rPr>
              <a:t>ASTARTER  ·  COINTIME PACKAGE  ·  2026.05.24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E5FF"/>
                </a:solidFill>
                <a:latin typeface="Consolas"/>
              </a:rPr>
              <a:t>06  ·  THE ALLIANCE  ·  MAY 15,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Calibri"/>
              </a:rPr>
              <a:t>Astarter  ×  UXLINK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0E5FF"/>
                </a:solidFill>
                <a:latin typeface="Calibri"/>
              </a:rPr>
              <a:t>Execution layer  +  distribution layer.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657600"/>
            <a:ext cx="5486400" cy="2560320"/>
          </a:xfrm>
          <a:prstGeom prst="rect">
            <a:avLst/>
          </a:prstGeom>
          <a:solidFill>
            <a:srgbClr val="2D1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E5FF"/>
                </a:solidFill>
                <a:latin typeface="Consolas"/>
              </a:rPr>
              <a:t>ASTARTER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9768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Brings the execution layer: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the financial primitives agents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need to clear value on-chain.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657600"/>
            <a:ext cx="5486400" cy="2560320"/>
          </a:xfrm>
          <a:prstGeom prst="rect">
            <a:avLst/>
          </a:prstGeom>
          <a:solidFill>
            <a:srgbClr val="6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onsolas"/>
              </a:rPr>
              <a:t>UXLINK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9768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Brings the distribution layer: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active Web3 social graph for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agent-native applications.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070B0"/>
                </a:solidFill>
                <a:latin typeface="Consolas"/>
              </a:rPr>
              <a:t>07 /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070B0"/>
                </a:solidFill>
                <a:latin typeface="Consolas"/>
              </a:rPr>
              <a:t>ASTARTER  ·  COINTIME PACKAGE  ·  2026.05.24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E5FF"/>
                </a:solidFill>
                <a:latin typeface="Consolas"/>
              </a:rPr>
              <a:t>07  ·  THE TOKEN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>
                <a:solidFill>
                  <a:srgbClr val="00E5FF"/>
                </a:solidFill>
                <a:latin typeface="Calibri"/>
              </a:rPr>
              <a:t>$AA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D4C8FF"/>
                </a:solidFill>
                <a:latin typeface="Consolas"/>
              </a:rPr>
              <a:t>Fixed supply  ·  100,000,000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822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E5FF"/>
                </a:solidFill>
                <a:latin typeface="Consolas"/>
              </a:rPr>
              <a:t>UNIT OF ACCOUNT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FFFFFF"/>
                </a:solidFill>
                <a:latin typeface="Calibri"/>
              </a:rPr>
              <a:t>Agent-to-agent settlement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E5FF"/>
                </a:solidFill>
                <a:latin typeface="Consolas"/>
              </a:rPr>
              <a:t>PAYMENT MEDIUM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3172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FFFFFF"/>
                </a:solidFill>
                <a:latin typeface="Calibri"/>
              </a:rPr>
              <a:t>DePIN compute 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200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E5FF"/>
                </a:solidFill>
                <a:latin typeface="Consolas"/>
              </a:rPr>
              <a:t>GOVERNANCE INSTRUMENT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52044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FFFFFF"/>
                </a:solidFill>
                <a:latin typeface="Calibri"/>
              </a:rPr>
              <a:t>Protocol parameters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389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E5FF"/>
                </a:solidFill>
                <a:latin typeface="Consolas"/>
              </a:rPr>
              <a:t>COLLATERAL PRIMITIVE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70916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FFFFFF"/>
                </a:solidFill>
                <a:latin typeface="Calibri"/>
              </a:rPr>
              <a:t>Money Market for agent credit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070B0"/>
                </a:solidFill>
                <a:latin typeface="Consolas"/>
              </a:rPr>
              <a:t>AA1 → AA2 transition completed November 2025.  Listing schedule undisclosed.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070B0"/>
                </a:solidFill>
                <a:latin typeface="Consolas"/>
              </a:rPr>
              <a:t>08 /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070B0"/>
                </a:solidFill>
                <a:latin typeface="Consolas"/>
              </a:rPr>
              <a:t>ASTARTER  ·  COINTIME PACKAGE  ·  2026.05.24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E5FF"/>
                </a:solidFill>
                <a:latin typeface="Consolas"/>
              </a:rPr>
              <a:t>08  ·  WHAT TO WATCH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Calibri"/>
              </a:rPr>
              <a:t>Three signals.</a:t>
            </a:r>
          </a:p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Calibri"/>
              </a:rPr>
              <a:t>Next two quarters.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E5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0632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AGENT-NATIVE PRODUCT RELEASE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4747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D4C8FF"/>
                </a:solidFill>
                <a:latin typeface="Calibri"/>
              </a:rPr>
              <a:t>DeFAI execution layer in functional beta with one external production deployment.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E5FF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1605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MULTI-CHAIN EXPANSION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4572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D4C8FF"/>
                </a:solidFill>
                <a:latin typeface="Calibri"/>
              </a:rPr>
              <a:t>Confirmed deployment beyond Cardano into EVM and/or Solana environments.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12079"/>
            <a:ext cx="914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E5FF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525779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ADDITIONAL STRATEGIC ALLIANCES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5669279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D4C8FF"/>
                </a:solidFill>
                <a:latin typeface="Calibri"/>
              </a:rPr>
              <a:t>At least one more UXLINK-caliber partnership within 90 days.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070B0"/>
                </a:solidFill>
                <a:latin typeface="Consolas"/>
              </a:rPr>
              <a:t>09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070B0"/>
                </a:solidFill>
                <a:latin typeface="Consolas"/>
              </a:rPr>
              <a:t>ASTARTER  ·  COINTIME PACKAGE  ·  2026.05.24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E5FF"/>
                </a:solidFill>
                <a:latin typeface="Consolas"/>
              </a:rPr>
              <a:t>09  ·  DECISIONS REQUIRED FROM GK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Calibri"/>
              </a:rPr>
              <a:t>Open items before send.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2860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Calibri"/>
              </a:rPr>
              <a:t>Share TGE date / listing venues in copy?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8346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Calibri"/>
              </a:rPr>
              <a:t>Confirmed second chain we can name?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83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Calibri"/>
              </a:rPr>
              <a:t>CEO quote on the DeFAI thesis?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Calibri"/>
              </a:rPr>
              <a:t>Hold for a second partnership announcement?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8056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80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Calibri"/>
              </a:rPr>
              <a:t>Approve syndication beyond Cointime  (PANews / BlockBeats / TechFlow)?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0E5FF"/>
                </a:solidFill>
                <a:latin typeface="Consolas"/>
              </a:rPr>
              <a:t>astarter.io  ·  @AstarterDefiHub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070B0"/>
                </a:solidFill>
                <a:latin typeface="Consolas"/>
              </a:rPr>
              <a:t>10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070B0"/>
                </a:solidFill>
                <a:latin typeface="Consolas"/>
              </a:rPr>
              <a:t>ASTARTER  ·  COINTIME PACKAGE  ·  2026.05.24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